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bold r:id="rId14"/>
      <p:boldItalic r:id="rId15"/>
    </p:embeddedFont>
    <p:embeddedFont>
      <p:font typeface="Roboto Medium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1918">
          <p15:clr>
            <a:srgbClr val="A4A3A4"/>
          </p15:clr>
        </p15:guide>
        <p15:guide id="3" pos="383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1918"/>
        <p:guide pos="383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bold.fntdata"/><Relationship Id="rId17" Type="http://schemas.openxmlformats.org/officeDocument/2006/relationships/font" Target="fonts/RobotoMedium-bold.fntdata"/><Relationship Id="rId16" Type="http://schemas.openxmlformats.org/officeDocument/2006/relationships/font" Target="fonts/RobotoMedium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edium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6e836112d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6e836112d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F172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62000" y="952500"/>
            <a:ext cx="7620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Global SuperStore</a:t>
            </a:r>
            <a:endParaRPr b="1" sz="1400">
              <a:solidFill>
                <a:srgbClr val="38BDF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Uncovering </a:t>
            </a:r>
            <a:r>
              <a:rPr b="1" lang="en" sz="3800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Profit Erosion </a:t>
            </a:r>
            <a:r>
              <a:rPr b="1" lang="en" sz="38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&amp; </a:t>
            </a:r>
            <a:br>
              <a:rPr b="1" lang="en" sz="38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 sz="38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Optimizing Financial Performance</a:t>
            </a:r>
            <a:endParaRPr b="1" sz="3800">
              <a:solidFill>
                <a:srgbClr val="F8FAF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5" name="Google Shape;55;p13"/>
          <p:cNvGrpSpPr/>
          <p:nvPr/>
        </p:nvGrpSpPr>
        <p:grpSpPr>
          <a:xfrm>
            <a:off x="762000" y="3385350"/>
            <a:ext cx="7620000" cy="952500"/>
            <a:chOff x="0" y="0"/>
            <a:chExt cx="7620000" cy="952500"/>
          </a:xfrm>
        </p:grpSpPr>
        <p:cxnSp>
          <p:nvCxnSpPr>
            <p:cNvPr id="56" name="Google Shape;56;p13"/>
            <p:cNvCxnSpPr/>
            <p:nvPr/>
          </p:nvCxnSpPr>
          <p:spPr>
            <a:xfrm>
              <a:off x="0" y="0"/>
              <a:ext cx="14289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7" name="Google Shape;57;p13"/>
            <p:cNvSpPr txBox="1"/>
            <p:nvPr/>
          </p:nvSpPr>
          <p:spPr>
            <a:xfrm>
              <a:off x="0" y="19050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chemeClr val="accent2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Tariq Jawad</a:t>
              </a:r>
              <a:endParaRPr b="0" sz="1600">
                <a:solidFill>
                  <a:schemeClr val="accent2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Data Analyst Aug 2026</a:t>
              </a:r>
              <a:endParaRPr b="0" sz="120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571500" y="762000"/>
            <a:ext cx="36195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THE ASK</a:t>
            </a:r>
            <a:endParaRPr b="1" sz="1100">
              <a:solidFill>
                <a:srgbClr val="38BDF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Why are</a:t>
            </a:r>
            <a:r>
              <a:rPr b="1" lang="en" sz="3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3400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profits</a:t>
            </a:r>
            <a:r>
              <a:rPr b="1" lang="en" sz="34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34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declining despite massive</a:t>
            </a:r>
            <a:r>
              <a:rPr b="1" lang="en" sz="34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34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Sales</a:t>
            </a:r>
            <a:r>
              <a:rPr b="1" lang="en" sz="34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 b="1" sz="3400">
              <a:solidFill>
                <a:srgbClr val="F8FAF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D5CDF"/>
                </a:solidFill>
                <a:latin typeface="Roboto"/>
                <a:ea typeface="Roboto"/>
                <a:cs typeface="Roboto"/>
                <a:sym typeface="Roboto"/>
              </a:rPr>
              <a:t>An in-depth analysis of the Global SuperStore dataset to uncover the underlying causes of profit erosion across product categories.</a:t>
            </a:r>
            <a:endParaRPr b="0" sz="1400">
              <a:solidFill>
                <a:srgbClr val="0D5CD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572000" y="762000"/>
            <a:ext cx="4000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DATA CLEANING &amp; PREPARATION</a:t>
            </a:r>
            <a:endParaRPr b="1" sz="1100">
              <a:solidFill>
                <a:srgbClr val="38BDF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4" name="Google Shape;64;p14"/>
          <p:cNvGrpSpPr/>
          <p:nvPr/>
        </p:nvGrpSpPr>
        <p:grpSpPr>
          <a:xfrm>
            <a:off x="4572000" y="1238250"/>
            <a:ext cx="4000500" cy="952500"/>
            <a:chOff x="0" y="0"/>
            <a:chExt cx="4000500" cy="952500"/>
          </a:xfrm>
        </p:grpSpPr>
        <p:sp>
          <p:nvSpPr>
            <p:cNvPr id="65" name="Google Shape;65;p14"/>
            <p:cNvSpPr/>
            <p:nvPr/>
          </p:nvSpPr>
          <p:spPr>
            <a:xfrm>
              <a:off x="0" y="0"/>
              <a:ext cx="4000500" cy="952500"/>
            </a:xfrm>
            <a:prstGeom prst="roundRect">
              <a:avLst>
                <a:gd fmla="val 8000" name="adj"/>
              </a:avLst>
            </a:prstGeom>
            <a:solidFill>
              <a:srgbClr val="161F3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 txBox="1"/>
            <p:nvPr/>
          </p:nvSpPr>
          <p:spPr>
            <a:xfrm>
              <a:off x="190500" y="190500"/>
              <a:ext cx="342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1" sz="18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" name="Google Shape;67;p14"/>
            <p:cNvSpPr txBox="1"/>
            <p:nvPr/>
          </p:nvSpPr>
          <p:spPr>
            <a:xfrm>
              <a:off x="666750" y="142875"/>
              <a:ext cx="3143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8FAFC"/>
                  </a:solidFill>
                  <a:latin typeface="Roboto"/>
                  <a:ea typeface="Roboto"/>
                  <a:cs typeface="Roboto"/>
                  <a:sym typeface="Roboto"/>
                </a:rPr>
                <a:t>Large-Scale Data Analysis</a:t>
              </a:r>
              <a:endParaRPr b="1" sz="13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Analyzed over </a:t>
              </a:r>
              <a:r>
                <a:rPr b="1" lang="en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50,000</a:t>
              </a:r>
              <a:r>
                <a:rPr b="0" lang="en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 sales records to build a comprehensive baseline</a:t>
              </a:r>
              <a:r>
                <a:rPr b="0" lang="en" sz="1100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b="0" sz="110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" name="Google Shape;68;p14"/>
          <p:cNvGrpSpPr/>
          <p:nvPr/>
        </p:nvGrpSpPr>
        <p:grpSpPr>
          <a:xfrm>
            <a:off x="4572000" y="2333625"/>
            <a:ext cx="4000500" cy="952500"/>
            <a:chOff x="0" y="0"/>
            <a:chExt cx="4000500" cy="952500"/>
          </a:xfrm>
        </p:grpSpPr>
        <p:sp>
          <p:nvSpPr>
            <p:cNvPr id="69" name="Google Shape;69;p14"/>
            <p:cNvSpPr/>
            <p:nvPr/>
          </p:nvSpPr>
          <p:spPr>
            <a:xfrm>
              <a:off x="0" y="0"/>
              <a:ext cx="4000500" cy="952500"/>
            </a:xfrm>
            <a:prstGeom prst="roundRect">
              <a:avLst>
                <a:gd fmla="val 8000" name="adj"/>
              </a:avLst>
            </a:prstGeom>
            <a:solidFill>
              <a:srgbClr val="161F3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 txBox="1"/>
            <p:nvPr/>
          </p:nvSpPr>
          <p:spPr>
            <a:xfrm>
              <a:off x="190500" y="190500"/>
              <a:ext cx="342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1" sz="18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1" name="Google Shape;71;p14"/>
            <p:cNvSpPr txBox="1"/>
            <p:nvPr/>
          </p:nvSpPr>
          <p:spPr>
            <a:xfrm>
              <a:off x="666750" y="142875"/>
              <a:ext cx="3143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8FAFC"/>
                  </a:solidFill>
                  <a:latin typeface="Roboto"/>
                  <a:ea typeface="Roboto"/>
                  <a:cs typeface="Roboto"/>
                  <a:sym typeface="Roboto"/>
                </a:rPr>
                <a:t>Data Isolation</a:t>
              </a:r>
              <a:endParaRPr b="1" sz="13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Isolated raw transactional data to pinpoint exact financial performance metrics.</a:t>
              </a:r>
              <a:endParaRPr b="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2" name="Google Shape;72;p14"/>
          <p:cNvGrpSpPr/>
          <p:nvPr/>
        </p:nvGrpSpPr>
        <p:grpSpPr>
          <a:xfrm>
            <a:off x="4572000" y="3429000"/>
            <a:ext cx="4000500" cy="1143000"/>
            <a:chOff x="0" y="0"/>
            <a:chExt cx="4000500" cy="1143000"/>
          </a:xfrm>
        </p:grpSpPr>
        <p:sp>
          <p:nvSpPr>
            <p:cNvPr id="73" name="Google Shape;73;p14"/>
            <p:cNvSpPr/>
            <p:nvPr/>
          </p:nvSpPr>
          <p:spPr>
            <a:xfrm>
              <a:off x="0" y="0"/>
              <a:ext cx="4000500" cy="1143000"/>
            </a:xfrm>
            <a:prstGeom prst="roundRect">
              <a:avLst>
                <a:gd fmla="val 6666" name="adj"/>
              </a:avLst>
            </a:prstGeom>
            <a:solidFill>
              <a:srgbClr val="161F3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 txBox="1"/>
            <p:nvPr/>
          </p:nvSpPr>
          <p:spPr>
            <a:xfrm>
              <a:off x="190500" y="190500"/>
              <a:ext cx="342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1" sz="18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" name="Google Shape;75;p14"/>
            <p:cNvSpPr txBox="1"/>
            <p:nvPr/>
          </p:nvSpPr>
          <p:spPr>
            <a:xfrm>
              <a:off x="666750" y="142875"/>
              <a:ext cx="3143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8FAFC"/>
                  </a:solidFill>
                  <a:latin typeface="Roboto"/>
                  <a:ea typeface="Roboto"/>
                  <a:cs typeface="Roboto"/>
                  <a:sym typeface="Roboto"/>
                </a:rPr>
                <a:t>Dataset Standardization &amp; Cleaning</a:t>
              </a:r>
              <a:endParaRPr b="1" sz="13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Removed irrelevant columns and standardized formatting to ensure complete data integrity and analytical accuracy.</a:t>
              </a:r>
              <a:endParaRPr b="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5"/>
          <p:cNvGrpSpPr/>
          <p:nvPr/>
        </p:nvGrpSpPr>
        <p:grpSpPr>
          <a:xfrm>
            <a:off x="571500" y="762000"/>
            <a:ext cx="2667000" cy="3619500"/>
            <a:chOff x="0" y="0"/>
            <a:chExt cx="2667000" cy="3619500"/>
          </a:xfrm>
        </p:grpSpPr>
        <p:sp>
          <p:nvSpPr>
            <p:cNvPr id="81" name="Google Shape;81;p15"/>
            <p:cNvSpPr/>
            <p:nvPr/>
          </p:nvSpPr>
          <p:spPr>
            <a:xfrm>
              <a:off x="0" y="0"/>
              <a:ext cx="2667000" cy="36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5"/>
            <p:cNvSpPr txBox="1"/>
            <p:nvPr/>
          </p:nvSpPr>
          <p:spPr>
            <a:xfrm>
              <a:off x="0" y="0"/>
              <a:ext cx="2667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THE PROBLEM</a:t>
              </a:r>
              <a:endParaRPr b="1" sz="10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Tables Drain Profits</a:t>
              </a:r>
              <a:endParaRPr b="1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The </a:t>
              </a:r>
              <a:r>
                <a:rPr b="1"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Tables</a:t>
              </a:r>
              <a:r>
                <a:rPr b="0"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category generates massive sales </a:t>
              </a:r>
              <a:r>
                <a:rPr b="0" lang="en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(</a:t>
              </a:r>
              <a:r>
                <a:rPr b="1" lang="en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$757k</a:t>
              </a:r>
              <a:r>
                <a:rPr b="0" lang="en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)</a:t>
              </a:r>
              <a:r>
                <a:rPr b="0"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but results in a severe net loss </a:t>
              </a:r>
              <a:r>
                <a:rPr b="0" lang="en">
                  <a:solidFill>
                    <a:srgbClr val="EF4444"/>
                  </a:solidFill>
                  <a:latin typeface="Roboto"/>
                  <a:ea typeface="Roboto"/>
                  <a:cs typeface="Roboto"/>
                  <a:sym typeface="Roboto"/>
                </a:rPr>
                <a:t>(</a:t>
              </a:r>
              <a:r>
                <a:rPr b="1" lang="en">
                  <a:solidFill>
                    <a:srgbClr val="EF4444"/>
                  </a:solidFill>
                  <a:latin typeface="Roboto"/>
                  <a:ea typeface="Roboto"/>
                  <a:cs typeface="Roboto"/>
                  <a:sym typeface="Roboto"/>
                </a:rPr>
                <a:t>-$64k</a:t>
              </a:r>
              <a:r>
                <a:rPr b="0" lang="en">
                  <a:solidFill>
                    <a:srgbClr val="EF4444"/>
                  </a:solidFill>
                  <a:latin typeface="Roboto"/>
                  <a:ea typeface="Roboto"/>
                  <a:cs typeface="Roboto"/>
                  <a:sym typeface="Roboto"/>
                </a:rPr>
                <a:t>).</a:t>
              </a:r>
              <a:endParaRPr b="0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EF4444"/>
                  </a:solidFill>
                  <a:latin typeface="Roboto"/>
                  <a:ea typeface="Roboto"/>
                  <a:cs typeface="Roboto"/>
                  <a:sym typeface="Roboto"/>
                </a:rPr>
                <a:t>CRITICAL LOSS</a:t>
              </a:r>
              <a:endParaRPr b="1" sz="1200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Tables represent the only highly negative product sub-category in the portfolio.</a:t>
              </a:r>
              <a:endParaRPr b="1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83" name="Google Shape;83;p15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4550" y="501700"/>
            <a:ext cx="5600700" cy="346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/>
        </p:nvSpPr>
        <p:spPr>
          <a:xfrm>
            <a:off x="476250" y="666750"/>
            <a:ext cx="30480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The Problem</a:t>
            </a:r>
            <a:endParaRPr b="1" sz="1100">
              <a:solidFill>
                <a:srgbClr val="38BDF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High Discount Rates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rPr>
              <a:t>Retail discount policies act as the silent killer of regional profit margins when left unchecked</a:t>
            </a:r>
            <a:r>
              <a:rPr b="0" lang="en" sz="1500">
                <a:solidFill>
                  <a:srgbClr val="0944A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1" sz="1300">
              <a:solidFill>
                <a:srgbClr val="0944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9" name="Google Shape;89;p16"/>
          <p:cNvGrpSpPr/>
          <p:nvPr/>
        </p:nvGrpSpPr>
        <p:grpSpPr>
          <a:xfrm>
            <a:off x="476250" y="3753125"/>
            <a:ext cx="8191500" cy="1000200"/>
            <a:chOff x="0" y="0"/>
            <a:chExt cx="8191500" cy="1000200"/>
          </a:xfrm>
        </p:grpSpPr>
        <p:sp>
          <p:nvSpPr>
            <p:cNvPr id="90" name="Google Shape;90;p16"/>
            <p:cNvSpPr/>
            <p:nvPr/>
          </p:nvSpPr>
          <p:spPr>
            <a:xfrm>
              <a:off x="0" y="0"/>
              <a:ext cx="8191500" cy="1000200"/>
            </a:xfrm>
            <a:prstGeom prst="roundRect">
              <a:avLst>
                <a:gd fmla="val 9523" name="adj"/>
              </a:avLst>
            </a:prstGeom>
            <a:solidFill>
              <a:srgbClr val="161F30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1" name="Google Shape;91;p16"/>
            <p:cNvSpPr txBox="1"/>
            <p:nvPr/>
          </p:nvSpPr>
          <p:spPr>
            <a:xfrm>
              <a:off x="228600" y="152400"/>
              <a:ext cx="7734300" cy="695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The Evidence</a:t>
              </a:r>
              <a:endParaRPr b="1" sz="13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F8FAFC"/>
                  </a:solidFill>
                  <a:latin typeface="Roboto"/>
                  <a:ea typeface="Roboto"/>
                  <a:cs typeface="Roboto"/>
                  <a:sym typeface="Roboto"/>
                </a:rPr>
                <a:t>Southeast Asia</a:t>
              </a:r>
              <a:r>
                <a:rPr b="0" lang="en" sz="15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0" lang="en" sz="15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averaged a</a:t>
              </a:r>
              <a:r>
                <a:rPr b="0" lang="en" sz="15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1" lang="en" sz="1500">
                  <a:solidFill>
                    <a:srgbClr val="EF4444"/>
                  </a:solidFill>
                  <a:latin typeface="Roboto"/>
                  <a:ea typeface="Roboto"/>
                  <a:cs typeface="Roboto"/>
                  <a:sym typeface="Roboto"/>
                </a:rPr>
                <a:t>27% discount rate</a:t>
              </a:r>
              <a:r>
                <a:rPr b="0" lang="en" sz="15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0" lang="en" sz="1500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which led to collapsing profits, while</a:t>
              </a:r>
              <a:r>
                <a:rPr b="0" lang="en" sz="15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1" lang="en" sz="1500">
                  <a:solidFill>
                    <a:srgbClr val="F8FAFC"/>
                  </a:solidFill>
                  <a:latin typeface="Roboto"/>
                  <a:ea typeface="Roboto"/>
                  <a:cs typeface="Roboto"/>
                  <a:sym typeface="Roboto"/>
                </a:rPr>
                <a:t>Central Asia</a:t>
              </a:r>
              <a:r>
                <a:rPr b="0" lang="en" sz="15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0" lang="en" sz="1500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maintained excellent profitability with a disciplined </a:t>
              </a:r>
              <a:r>
                <a:rPr b="1" lang="en" sz="1500">
                  <a:solidFill>
                    <a:srgbClr val="22C55E"/>
                  </a:solidFill>
                  <a:latin typeface="Roboto"/>
                  <a:ea typeface="Roboto"/>
                  <a:cs typeface="Roboto"/>
                  <a:sym typeface="Roboto"/>
                </a:rPr>
                <a:t>7% discount rate</a:t>
              </a:r>
              <a:r>
                <a:rPr b="0" lang="en" sz="15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b="1" sz="13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92" name="Google Shape;92;p1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6650" y="514556"/>
            <a:ext cx="4991100" cy="3086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/>
        </p:nvSpPr>
        <p:spPr>
          <a:xfrm>
            <a:off x="571500" y="714375"/>
            <a:ext cx="2667000" cy="371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THE TREND</a:t>
            </a:r>
            <a:endParaRPr b="1" sz="1100">
              <a:solidFill>
                <a:srgbClr val="38BDF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Seasonal Sales Trends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>
                <a:solidFill>
                  <a:srgbClr val="0D5CDF"/>
                </a:solidFill>
                <a:latin typeface="Roboto"/>
                <a:ea typeface="Roboto"/>
                <a:cs typeface="Roboto"/>
                <a:sym typeface="Roboto"/>
              </a:rPr>
              <a:t>Sales peak dramatically in Q4 (November and December) while suffering a severe slump in mid-year (July).</a:t>
            </a:r>
            <a:endParaRPr b="0">
              <a:solidFill>
                <a:srgbClr val="0D5CD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B0F19"/>
                </a:solidFill>
                <a:highlight>
                  <a:srgbClr val="38BDF8"/>
                </a:highlight>
                <a:latin typeface="Roboto"/>
                <a:ea typeface="Roboto"/>
                <a:cs typeface="Roboto"/>
                <a:sym typeface="Roboto"/>
              </a:rPr>
              <a:t>Q4 </a:t>
            </a:r>
            <a:r>
              <a:rPr b="1" lang="en" sz="1300">
                <a:solidFill>
                  <a:schemeClr val="dk1"/>
                </a:solidFill>
                <a:highlight>
                  <a:srgbClr val="38BDF8"/>
                </a:highlight>
                <a:latin typeface="Roboto"/>
                <a:ea typeface="Roboto"/>
                <a:cs typeface="Roboto"/>
                <a:sym typeface="Roboto"/>
              </a:rPr>
              <a:t>PEAK</a:t>
            </a:r>
            <a:r>
              <a:rPr b="1" lang="en" sz="1100">
                <a:solidFill>
                  <a:schemeClr val="dk1"/>
                </a:solidFill>
                <a:highlight>
                  <a:srgbClr val="38BDF8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lang="en" sz="1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November &amp; December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SLUMP</a:t>
            </a:r>
            <a:r>
              <a:rPr b="0" lang="en" sz="1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Mid-Year (July)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3524250" y="762000"/>
            <a:ext cx="5048400" cy="34290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7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5400" y="916050"/>
            <a:ext cx="4787601" cy="3117524"/>
          </a:xfrm>
          <a:prstGeom prst="rect">
            <a:avLst/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/>
        </p:nvSpPr>
        <p:spPr>
          <a:xfrm>
            <a:off x="571500" y="47625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Strategic Recommendations</a:t>
            </a:r>
            <a:endParaRPr b="1" sz="2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5" name="Google Shape;105;p18"/>
          <p:cNvGrpSpPr/>
          <p:nvPr/>
        </p:nvGrpSpPr>
        <p:grpSpPr>
          <a:xfrm>
            <a:off x="571500" y="1333500"/>
            <a:ext cx="2476500" cy="3143400"/>
            <a:chOff x="0" y="0"/>
            <a:chExt cx="2476500" cy="3143400"/>
          </a:xfrm>
        </p:grpSpPr>
        <p:sp>
          <p:nvSpPr>
            <p:cNvPr id="106" name="Google Shape;106;p18"/>
            <p:cNvSpPr/>
            <p:nvPr/>
          </p:nvSpPr>
          <p:spPr>
            <a:xfrm>
              <a:off x="0" y="0"/>
              <a:ext cx="2476500" cy="3143400"/>
            </a:xfrm>
            <a:prstGeom prst="roundRect">
              <a:avLst>
                <a:gd fmla="val 4615" name="adj"/>
              </a:avLst>
            </a:prstGeom>
            <a:solidFill>
              <a:srgbClr val="161F30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8"/>
            <p:cNvSpPr txBox="1"/>
            <p:nvPr/>
          </p:nvSpPr>
          <p:spPr>
            <a:xfrm>
              <a:off x="0" y="0"/>
              <a:ext cx="24765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highlight>
                    <a:srgbClr val="0D5CDF"/>
                  </a:highlight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1" sz="1400">
                <a:solidFill>
                  <a:srgbClr val="FFFFFF"/>
                </a:solidFill>
                <a:highlight>
                  <a:srgbClr val="0D5CDF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Pricing &amp; Logistics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450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Renegotiate international shipping contracts for heavy items like tables, or adjust their pricing to absorb the shipping costs.</a:t>
              </a:r>
              <a:endParaRPr b="0" sz="145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8" name="Google Shape;108;p18"/>
          <p:cNvGrpSpPr/>
          <p:nvPr/>
        </p:nvGrpSpPr>
        <p:grpSpPr>
          <a:xfrm>
            <a:off x="3333750" y="1333500"/>
            <a:ext cx="2476500" cy="3143400"/>
            <a:chOff x="0" y="0"/>
            <a:chExt cx="2476500" cy="3143400"/>
          </a:xfrm>
        </p:grpSpPr>
        <p:sp>
          <p:nvSpPr>
            <p:cNvPr id="109" name="Google Shape;109;p18"/>
            <p:cNvSpPr/>
            <p:nvPr/>
          </p:nvSpPr>
          <p:spPr>
            <a:xfrm>
              <a:off x="0" y="0"/>
              <a:ext cx="2476500" cy="3143400"/>
            </a:xfrm>
            <a:prstGeom prst="roundRect">
              <a:avLst>
                <a:gd fmla="val 4615" name="adj"/>
              </a:avLst>
            </a:prstGeom>
            <a:solidFill>
              <a:srgbClr val="161F30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8"/>
            <p:cNvSpPr txBox="1"/>
            <p:nvPr/>
          </p:nvSpPr>
          <p:spPr>
            <a:xfrm>
              <a:off x="0" y="0"/>
              <a:ext cx="24765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highlight>
                    <a:srgbClr val="0D5CDF"/>
                  </a:highlight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1" sz="1400">
                <a:solidFill>
                  <a:srgbClr val="FFFFFF"/>
                </a:solidFill>
                <a:highlight>
                  <a:srgbClr val="0D5CDF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Discount Cap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450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Implement a strict discount cap of 10% - 15% in underperforming regions to instantly recover profit margins.</a:t>
              </a:r>
              <a:endParaRPr b="0" sz="145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1" name="Google Shape;111;p18"/>
          <p:cNvGrpSpPr/>
          <p:nvPr/>
        </p:nvGrpSpPr>
        <p:grpSpPr>
          <a:xfrm>
            <a:off x="6096000" y="1333500"/>
            <a:ext cx="2476500" cy="3143400"/>
            <a:chOff x="0" y="0"/>
            <a:chExt cx="2476500" cy="3143400"/>
          </a:xfrm>
        </p:grpSpPr>
        <p:sp>
          <p:nvSpPr>
            <p:cNvPr id="112" name="Google Shape;112;p18"/>
            <p:cNvSpPr/>
            <p:nvPr/>
          </p:nvSpPr>
          <p:spPr>
            <a:xfrm>
              <a:off x="0" y="0"/>
              <a:ext cx="2476500" cy="3143400"/>
            </a:xfrm>
            <a:prstGeom prst="roundRect">
              <a:avLst>
                <a:gd fmla="val 4615" name="adj"/>
              </a:avLst>
            </a:prstGeom>
            <a:solidFill>
              <a:srgbClr val="161F30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8"/>
            <p:cNvSpPr txBox="1"/>
            <p:nvPr/>
          </p:nvSpPr>
          <p:spPr>
            <a:xfrm>
              <a:off x="0" y="0"/>
              <a:ext cx="24765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highlight>
                    <a:srgbClr val="0D5CDF"/>
                  </a:highlight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1" sz="1400">
                <a:solidFill>
                  <a:srgbClr val="FFFFFF"/>
                </a:solidFill>
                <a:highlight>
                  <a:srgbClr val="0D5CDF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Inventory Strategy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450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Reduce procurement orders before the July slump, and ramp up inventory stocking gradually in late summer to prepare for the Q4 peak.</a:t>
              </a:r>
              <a:endParaRPr b="0" sz="145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19"/>
          <p:cNvGrpSpPr/>
          <p:nvPr/>
        </p:nvGrpSpPr>
        <p:grpSpPr>
          <a:xfrm>
            <a:off x="476250" y="762000"/>
            <a:ext cx="2667000" cy="3429000"/>
            <a:chOff x="0" y="0"/>
            <a:chExt cx="2667000" cy="3429000"/>
          </a:xfrm>
        </p:grpSpPr>
        <p:sp>
          <p:nvSpPr>
            <p:cNvPr id="119" name="Google Shape;119;p19"/>
            <p:cNvSpPr/>
            <p:nvPr/>
          </p:nvSpPr>
          <p:spPr>
            <a:xfrm>
              <a:off x="0" y="0"/>
              <a:ext cx="2667000" cy="3429000"/>
            </a:xfrm>
            <a:prstGeom prst="roundRect">
              <a:avLst>
                <a:gd fmla="val 4285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9"/>
            <p:cNvSpPr txBox="1"/>
            <p:nvPr/>
          </p:nvSpPr>
          <p:spPr>
            <a:xfrm>
              <a:off x="190500" y="238125"/>
              <a:ext cx="22860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93C5FD"/>
                  </a:solidFill>
                  <a:latin typeface="Roboto"/>
                  <a:ea typeface="Roboto"/>
                  <a:cs typeface="Roboto"/>
                  <a:sym typeface="Roboto"/>
                </a:rPr>
                <a:t>CORE STRATEGY</a:t>
              </a:r>
              <a:endParaRPr b="1" sz="1000">
                <a:solidFill>
                  <a:srgbClr val="93C5F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Main Message</a:t>
              </a:r>
              <a:endParaRPr b="1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High sales volume must be paired with strategic pricing and disciplined discounting to ensure true profitability.</a:t>
              </a:r>
              <a:endParaRPr b="0" sz="130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1" name="Google Shape;121;p19"/>
          <p:cNvGrpSpPr/>
          <p:nvPr/>
        </p:nvGrpSpPr>
        <p:grpSpPr>
          <a:xfrm>
            <a:off x="3333750" y="762000"/>
            <a:ext cx="5334000" cy="1047900"/>
            <a:chOff x="0" y="0"/>
            <a:chExt cx="5334000" cy="1047900"/>
          </a:xfrm>
        </p:grpSpPr>
        <p:sp>
          <p:nvSpPr>
            <p:cNvPr id="122" name="Google Shape;122;p19"/>
            <p:cNvSpPr/>
            <p:nvPr/>
          </p:nvSpPr>
          <p:spPr>
            <a:xfrm>
              <a:off x="0" y="0"/>
              <a:ext cx="5334000" cy="1047900"/>
            </a:xfrm>
            <a:prstGeom prst="roundRect">
              <a:avLst>
                <a:gd fmla="val 10909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3" name="Google Shape;123;p19"/>
            <p:cNvGrpSpPr/>
            <p:nvPr/>
          </p:nvGrpSpPr>
          <p:grpSpPr>
            <a:xfrm>
              <a:off x="190500" y="333375"/>
              <a:ext cx="381000" cy="381000"/>
              <a:chOff x="0" y="0"/>
              <a:chExt cx="381000" cy="381000"/>
            </a:xfrm>
          </p:grpSpPr>
          <p:sp>
            <p:nvSpPr>
              <p:cNvPr id="124" name="Google Shape;124;p19"/>
              <p:cNvSpPr/>
              <p:nvPr/>
            </p:nvSpPr>
            <p:spPr>
              <a:xfrm>
                <a:off x="0" y="0"/>
                <a:ext cx="381000" cy="381000"/>
              </a:xfrm>
              <a:prstGeom prst="roundRect">
                <a:avLst>
                  <a:gd fmla="val 20000" name="adj"/>
                </a:avLst>
              </a:prstGeom>
              <a:solidFill>
                <a:srgbClr val="0C57D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9"/>
              <p:cNvSpPr txBox="1"/>
              <p:nvPr/>
            </p:nvSpPr>
            <p:spPr>
              <a:xfrm>
                <a:off x="0" y="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01</a:t>
                </a:r>
                <a:endParaRPr b="1" sz="1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26" name="Google Shape;126;p19"/>
            <p:cNvSpPr txBox="1"/>
            <p:nvPr/>
          </p:nvSpPr>
          <p:spPr>
            <a:xfrm>
              <a:off x="762000" y="190500"/>
              <a:ext cx="4381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Identify</a:t>
              </a:r>
              <a:endParaRPr b="1" sz="17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Uncovered hidden financial leaks in specific products (Tables) and regions (over-discounting)</a:t>
              </a:r>
              <a:endParaRPr b="0" sz="13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7" name="Google Shape;127;p19"/>
          <p:cNvGrpSpPr/>
          <p:nvPr/>
        </p:nvGrpSpPr>
        <p:grpSpPr>
          <a:xfrm>
            <a:off x="3333750" y="1952625"/>
            <a:ext cx="5334000" cy="1047900"/>
            <a:chOff x="0" y="0"/>
            <a:chExt cx="5334000" cy="1047900"/>
          </a:xfrm>
        </p:grpSpPr>
        <p:sp>
          <p:nvSpPr>
            <p:cNvPr id="128" name="Google Shape;128;p19"/>
            <p:cNvSpPr/>
            <p:nvPr/>
          </p:nvSpPr>
          <p:spPr>
            <a:xfrm>
              <a:off x="0" y="0"/>
              <a:ext cx="5334000" cy="1047900"/>
            </a:xfrm>
            <a:prstGeom prst="roundRect">
              <a:avLst>
                <a:gd fmla="val 10909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9" name="Google Shape;129;p19"/>
            <p:cNvGrpSpPr/>
            <p:nvPr/>
          </p:nvGrpSpPr>
          <p:grpSpPr>
            <a:xfrm>
              <a:off x="190500" y="333375"/>
              <a:ext cx="381000" cy="381000"/>
              <a:chOff x="0" y="0"/>
              <a:chExt cx="381000" cy="381000"/>
            </a:xfrm>
          </p:grpSpPr>
          <p:sp>
            <p:nvSpPr>
              <p:cNvPr id="130" name="Google Shape;130;p19"/>
              <p:cNvSpPr/>
              <p:nvPr/>
            </p:nvSpPr>
            <p:spPr>
              <a:xfrm>
                <a:off x="0" y="0"/>
                <a:ext cx="381000" cy="381000"/>
              </a:xfrm>
              <a:prstGeom prst="roundRect">
                <a:avLst>
                  <a:gd fmla="val 20000" name="adj"/>
                </a:avLst>
              </a:prstGeom>
              <a:solidFill>
                <a:srgbClr val="0D5CD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9"/>
              <p:cNvSpPr txBox="1"/>
              <p:nvPr/>
            </p:nvSpPr>
            <p:spPr>
              <a:xfrm>
                <a:off x="0" y="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02</a:t>
                </a:r>
                <a:endParaRPr b="1" sz="1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32" name="Google Shape;132;p19"/>
            <p:cNvSpPr txBox="1"/>
            <p:nvPr/>
          </p:nvSpPr>
          <p:spPr>
            <a:xfrm>
              <a:off x="762000" y="190500"/>
              <a:ext cx="4381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Act</a:t>
              </a:r>
              <a:endParaRPr b="1" sz="17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Applying a 15% discount cap and restructuring heavy-item logistics will immediately recover lost margins.</a:t>
              </a:r>
              <a:endParaRPr b="0" sz="13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3" name="Google Shape;133;p19"/>
          <p:cNvGrpSpPr/>
          <p:nvPr/>
        </p:nvGrpSpPr>
        <p:grpSpPr>
          <a:xfrm>
            <a:off x="3333750" y="3143250"/>
            <a:ext cx="5334000" cy="1047900"/>
            <a:chOff x="0" y="0"/>
            <a:chExt cx="5334000" cy="1047900"/>
          </a:xfrm>
        </p:grpSpPr>
        <p:sp>
          <p:nvSpPr>
            <p:cNvPr id="134" name="Google Shape;134;p19"/>
            <p:cNvSpPr/>
            <p:nvPr/>
          </p:nvSpPr>
          <p:spPr>
            <a:xfrm>
              <a:off x="0" y="0"/>
              <a:ext cx="5334000" cy="1047900"/>
            </a:xfrm>
            <a:prstGeom prst="roundRect">
              <a:avLst>
                <a:gd fmla="val 10909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5" name="Google Shape;135;p19"/>
            <p:cNvGrpSpPr/>
            <p:nvPr/>
          </p:nvGrpSpPr>
          <p:grpSpPr>
            <a:xfrm>
              <a:off x="190500" y="333375"/>
              <a:ext cx="381000" cy="381000"/>
              <a:chOff x="0" y="0"/>
              <a:chExt cx="381000" cy="381000"/>
            </a:xfrm>
          </p:grpSpPr>
          <p:sp>
            <p:nvSpPr>
              <p:cNvPr id="136" name="Google Shape;136;p19"/>
              <p:cNvSpPr/>
              <p:nvPr/>
            </p:nvSpPr>
            <p:spPr>
              <a:xfrm>
                <a:off x="0" y="0"/>
                <a:ext cx="381000" cy="381000"/>
              </a:xfrm>
              <a:prstGeom prst="roundRect">
                <a:avLst>
                  <a:gd fmla="val 20000" name="adj"/>
                </a:avLst>
              </a:prstGeom>
              <a:solidFill>
                <a:srgbClr val="0E63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19"/>
              <p:cNvSpPr txBox="1"/>
              <p:nvPr/>
            </p:nvSpPr>
            <p:spPr>
              <a:xfrm>
                <a:off x="0" y="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03</a:t>
                </a:r>
                <a:endParaRPr b="1" sz="1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38" name="Google Shape;138;p19"/>
            <p:cNvSpPr txBox="1"/>
            <p:nvPr/>
          </p:nvSpPr>
          <p:spPr>
            <a:xfrm>
              <a:off x="762000" y="190500"/>
              <a:ext cx="4381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Grow</a:t>
              </a:r>
              <a:endParaRPr b="1" sz="17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Leveraging Q4 seasonality will maximize revenue without tying up capital in mid-year dead stock.</a:t>
              </a:r>
              <a:endParaRPr b="0" sz="13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contact information is : tzyad3763@gmail.com , +964 7717447089 , LinkedIn : Tariq-Jawad" id="143" name="Google Shape;14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